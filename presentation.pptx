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880600" cy="6858000"/>
  <p:notesSz cx="6858000" cy="9144000"/>
  <p:embeddedFontLst>
    <p:embeddedFont>
      <p:font typeface="Arial MT Pro" panose="020B0604020202020204" charset="0"/>
      <p:regular r:id="rId28"/>
    </p:embeddedFont>
    <p:embeddedFont>
      <p:font typeface="Arial MT Pro Bold" panose="020B0604020202020204" charset="0"/>
      <p:regular r:id="rId29"/>
    </p:embeddedFont>
    <p:embeddedFont>
      <p:font typeface="Arimo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E3DA07-9AF7-D513-19D3-798080D2BA57}" v="4" dt="2026-08-16T01:24:42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elrahman Helmy" userId="6990452746fed0f8" providerId="Windows Live" clId="Web-{9CE3DA07-9AF7-D513-19D3-798080D2BA57}"/>
    <pc:docChg chg="modSld">
      <pc:chgData name="Abdelrahman Helmy" userId="6990452746fed0f8" providerId="Windows Live" clId="Web-{9CE3DA07-9AF7-D513-19D3-798080D2BA57}" dt="2026-08-16T01:24:42.585" v="2" actId="20577"/>
      <pc:docMkLst>
        <pc:docMk/>
      </pc:docMkLst>
      <pc:sldChg chg="modSp">
        <pc:chgData name="Abdelrahman Helmy" userId="6990452746fed0f8" providerId="Windows Live" clId="Web-{9CE3DA07-9AF7-D513-19D3-798080D2BA57}" dt="2026-08-16T01:24:42.585" v="2" actId="20577"/>
        <pc:sldMkLst>
          <pc:docMk/>
          <pc:sldMk cId="0" sldId="257"/>
        </pc:sldMkLst>
        <pc:spChg chg="mod">
          <ac:chgData name="Abdelrahman Helmy" userId="6990452746fed0f8" providerId="Windows Live" clId="Web-{9CE3DA07-9AF7-D513-19D3-798080D2BA57}" dt="2026-08-16T01:24:42.585" v="2" actId="20577"/>
          <ac:spMkLst>
            <pc:docMk/>
            <pc:sldMk cId="0" sldId="257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uchi798/data-science-job-salaries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9153" y="247012"/>
            <a:ext cx="1599009" cy="524094"/>
            <a:chOff x="0" y="0"/>
            <a:chExt cx="2132012" cy="698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2076" cy="698754"/>
            </a:xfrm>
            <a:custGeom>
              <a:avLst/>
              <a:gdLst/>
              <a:ahLst/>
              <a:cxnLst/>
              <a:rect l="l" t="t" r="r" b="b"/>
              <a:pathLst>
                <a:path w="2132076" h="698754">
                  <a:moveTo>
                    <a:pt x="0" y="0"/>
                  </a:moveTo>
                  <a:lnTo>
                    <a:pt x="2132076" y="0"/>
                  </a:lnTo>
                  <a:lnTo>
                    <a:pt x="2132076" y="698754"/>
                  </a:lnTo>
                  <a:lnTo>
                    <a:pt x="0" y="698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3" r="2" b="-12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95900" y="403955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70" b="-207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65899" y="2636701"/>
            <a:ext cx="8671798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Data Science Job Salaries: Trends, Drivers &amp; Insights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5899" y="4050116"/>
            <a:ext cx="6045003" cy="771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7"/>
              </a:lnSpc>
            </a:pPr>
            <a:r>
              <a:rPr lang="en-US" sz="2400">
                <a:solidFill>
                  <a:srgbClr val="00B3E3"/>
                </a:solidFill>
                <a:latin typeface="Arial MT Pro"/>
                <a:ea typeface="Arial MT Pro"/>
                <a:cs typeface="Arial MT Pro"/>
                <a:sym typeface="Arial MT Pro"/>
              </a:rPr>
              <a:t>SIC – AI803</a:t>
            </a:r>
          </a:p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0B3E3"/>
                </a:solidFill>
                <a:latin typeface="Arial MT Pro"/>
                <a:ea typeface="Arial MT Pro"/>
                <a:cs typeface="Arial MT Pro"/>
                <a:sym typeface="Arial MT Pro"/>
              </a:rPr>
              <a:t>Team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 flipH="1">
            <a:off x="6858912" y="3918456"/>
            <a:ext cx="2504160" cy="2253744"/>
          </a:xfrm>
          <a:custGeom>
            <a:avLst/>
            <a:gdLst/>
            <a:ahLst/>
            <a:cxnLst/>
            <a:rect l="l" t="t" r="r" b="b"/>
            <a:pathLst>
              <a:path w="2504160" h="2253744">
                <a:moveTo>
                  <a:pt x="2504160" y="0"/>
                </a:moveTo>
                <a:lnTo>
                  <a:pt x="0" y="0"/>
                </a:lnTo>
                <a:lnTo>
                  <a:pt x="0" y="2253744"/>
                </a:lnTo>
                <a:lnTo>
                  <a:pt x="2504160" y="2253744"/>
                </a:lnTo>
                <a:lnTo>
                  <a:pt x="250416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9104" y="184328"/>
            <a:ext cx="441431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Agenda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681" y="1700746"/>
            <a:ext cx="8803148" cy="337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245" lvl="1" indent="-344805" algn="l">
              <a:lnSpc>
                <a:spcPts val="383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90245" lvl="1" indent="-344805" algn="l">
              <a:lnSpc>
                <a:spcPts val="383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 &amp; Problem Statement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90245" lvl="1" indent="-344805" algn="l">
              <a:lnSpc>
                <a:spcPts val="383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Overview &amp; Cleaning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90245" lvl="1" indent="-344805" algn="l">
              <a:lnSpc>
                <a:spcPts val="383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Exploratory Data Analysis &amp; Statistical Analysis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90245" lvl="1" indent="-344805" algn="l">
              <a:lnSpc>
                <a:spcPts val="383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 Design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90245" lvl="1" indent="-344805" algn="l">
              <a:lnSpc>
                <a:spcPts val="3838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 Results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90245" lvl="1" indent="-344805" algn="l">
              <a:lnSpc>
                <a:spcPts val="3838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Enhancements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427073" y="1734045"/>
            <a:ext cx="2332628" cy="3173643"/>
          </a:xfrm>
          <a:custGeom>
            <a:avLst/>
            <a:gdLst/>
            <a:ahLst/>
            <a:cxnLst/>
            <a:rect l="l" t="t" r="r" b="b"/>
            <a:pathLst>
              <a:path w="2332628" h="3173643">
                <a:moveTo>
                  <a:pt x="0" y="0"/>
                </a:moveTo>
                <a:lnTo>
                  <a:pt x="2332628" y="0"/>
                </a:lnTo>
                <a:lnTo>
                  <a:pt x="2332628" y="3173643"/>
                </a:lnTo>
                <a:lnTo>
                  <a:pt x="0" y="3173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42987" y="281000"/>
            <a:ext cx="4414314" cy="7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Team Members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59701" y="1782405"/>
            <a:ext cx="6593847" cy="397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69" lvl="1" indent="-345435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Abdelrahman Helmy - EDA &amp; Statistical Analysis​</a:t>
            </a:r>
          </a:p>
          <a:p>
            <a:pPr marL="690869" lvl="1" indent="-345435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Khaled Waleed - Data Cleaning &amp; Preprocessing​</a:t>
            </a:r>
          </a:p>
          <a:p>
            <a:pPr marL="690869" lvl="1" indent="-345435" algn="l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Ziad Hany - Power BI Dashboard​</a:t>
            </a:r>
          </a:p>
          <a:p>
            <a:pPr marL="712459" lvl="1" indent="-356229" algn="l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Mariam Ramy - Reporting &amp; Presentation​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2595" y="2581368"/>
            <a:ext cx="816804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Motivation &amp; Problem Statement </a:t>
            </a:r>
          </a:p>
        </p:txBody>
      </p:sp>
      <p:sp>
        <p:nvSpPr>
          <p:cNvPr id="4" name="AutoShape 4"/>
          <p:cNvSpPr/>
          <p:nvPr/>
        </p:nvSpPr>
        <p:spPr>
          <a:xfrm>
            <a:off x="572595" y="3267168"/>
            <a:ext cx="8168045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27088" y="1652593"/>
            <a:ext cx="9559862" cy="3505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176" lvl="1" indent="-226588" algn="l">
              <a:lnSpc>
                <a:spcPts val="251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Data science salaries vary widely making compensation benchmarking difficult for both job seekers and employers.</a:t>
            </a:r>
          </a:p>
          <a:p>
            <a:pPr algn="l">
              <a:lnSpc>
                <a:spcPts val="2518"/>
              </a:lnSpc>
            </a:pPr>
            <a:endParaRPr lang="en-US" sz="209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453176" lvl="1" indent="-226588" algn="l">
              <a:lnSpc>
                <a:spcPts val="251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Business problems: </a:t>
            </a:r>
          </a:p>
          <a:p>
            <a:pPr marL="906353" lvl="2" indent="-302118" algn="l">
              <a:lnSpc>
                <a:spcPts val="2518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Which factors most influence a data science salary?</a:t>
            </a:r>
          </a:p>
          <a:p>
            <a:pPr marL="906353" lvl="2" indent="-302118" algn="l">
              <a:lnSpc>
                <a:spcPts val="2518"/>
              </a:lnSpc>
              <a:buFont typeface="Arial"/>
              <a:buChar char="⚬"/>
            </a:pPr>
            <a:r>
              <a:rPr lang="en-US" sz="20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How can this inform hiring budgets, compensation strategy, and career decisions?</a:t>
            </a:r>
          </a:p>
          <a:p>
            <a:pPr algn="l">
              <a:lnSpc>
                <a:spcPts val="2518"/>
              </a:lnSpc>
            </a:pPr>
            <a:endParaRPr lang="en-US" sz="209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453176" lvl="1" indent="-226588" algn="l">
              <a:lnSpc>
                <a:spcPts val="251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Goal: Identify salary drivers and translate them into data backed recommendations.</a:t>
            </a:r>
          </a:p>
          <a:p>
            <a:pPr algn="l">
              <a:lnSpc>
                <a:spcPts val="2518"/>
              </a:lnSpc>
            </a:pPr>
            <a:endParaRPr lang="en-US" sz="2099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8116057" y="5064646"/>
            <a:ext cx="1237491" cy="1107554"/>
          </a:xfrm>
          <a:custGeom>
            <a:avLst/>
            <a:gdLst/>
            <a:ahLst/>
            <a:cxnLst/>
            <a:rect l="l" t="t" r="r" b="b"/>
            <a:pathLst>
              <a:path w="1237491" h="1107554">
                <a:moveTo>
                  <a:pt x="0" y="0"/>
                </a:moveTo>
                <a:lnTo>
                  <a:pt x="1237490" y="0"/>
                </a:lnTo>
                <a:lnTo>
                  <a:pt x="1237490" y="1107554"/>
                </a:lnTo>
                <a:lnTo>
                  <a:pt x="0" y="11075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9104" y="238125"/>
            <a:ext cx="9623419" cy="7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Motivation &amp; Problem Statement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724150"/>
            <a:ext cx="729865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Dataset Overview &amp; Cleaning</a:t>
            </a:r>
          </a:p>
        </p:txBody>
      </p:sp>
      <p:sp>
        <p:nvSpPr>
          <p:cNvPr id="4" name="AutoShape 4"/>
          <p:cNvSpPr/>
          <p:nvPr/>
        </p:nvSpPr>
        <p:spPr>
          <a:xfrm>
            <a:off x="946020" y="3371846"/>
            <a:ext cx="6921039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9104" y="184328"/>
            <a:ext cx="6730394" cy="7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Dataset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1450" y="1966913"/>
            <a:ext cx="9544050" cy="28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176" lvl="1" indent="-226588" algn="l">
              <a:lnSpc>
                <a:spcPts val="2518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Data </a:t>
            </a:r>
            <a:r>
              <a:rPr lang="en-US" sz="2099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Source is from Kaggle, "</a:t>
            </a:r>
            <a:r>
              <a:rPr lang="en-US" sz="2099" u="sng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  <a:hlinkClick r:id="rId2" tooltip="https://www.kaggle.com/datasets/ruchi798/data-science-job-salaries"/>
              </a:rPr>
              <a:t>Data Science Job Salaries</a:t>
            </a:r>
            <a:r>
              <a:rPr lang="en-US" sz="2099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" dataset (ds_salaries.csv)</a:t>
            </a:r>
          </a:p>
          <a:p>
            <a:pPr marL="453176" lvl="1" indent="-226588" algn="l">
              <a:lnSpc>
                <a:spcPts val="2518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Raw dataset: 607 rows × 12 columns </a:t>
            </a:r>
          </a:p>
          <a:p>
            <a:pPr marL="453176" lvl="1" indent="-226588" algn="l">
              <a:lnSpc>
                <a:spcPts val="2518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Final cleaned dataset: 607 rows × 11 columns</a:t>
            </a:r>
          </a:p>
          <a:p>
            <a:pPr marL="453176" lvl="1" indent="-226588" algn="l">
              <a:lnSpc>
                <a:spcPts val="2518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Key variables: work_year, experience_level, employment_type, job_title, salary, salary_currency, salary_in_usd, employee_residence, remote_ratio, company_location, company_size</a:t>
            </a:r>
          </a:p>
          <a:p>
            <a:pPr marL="453176" lvl="1" indent="-226588" algn="l">
              <a:lnSpc>
                <a:spcPts val="2518"/>
              </a:lnSpc>
              <a:spcBef>
                <a:spcPct val="0"/>
              </a:spcBef>
              <a:buFont typeface="Arial"/>
              <a:buChar char="•"/>
            </a:pPr>
            <a:r>
              <a:rPr lang="en-US" sz="2099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salary_in_usd used as the single standardized measure so all currencies are comparable on one scale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902857" cy="1623774"/>
            <a:chOff x="0" y="0"/>
            <a:chExt cx="13203809" cy="2165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2164969"/>
            </a:xfrm>
            <a:custGeom>
              <a:avLst/>
              <a:gdLst/>
              <a:ahLst/>
              <a:cxnLst/>
              <a:rect l="l" t="t" r="r" b="b"/>
              <a:pathLst>
                <a:path w="13203810" h="2164969">
                  <a:moveTo>
                    <a:pt x="0" y="0"/>
                  </a:moveTo>
                  <a:lnTo>
                    <a:pt x="13203810" y="0"/>
                  </a:lnTo>
                  <a:lnTo>
                    <a:pt x="13203810" y="2164969"/>
                  </a:lnTo>
                  <a:lnTo>
                    <a:pt x="0" y="216496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1540" y="511845"/>
            <a:ext cx="908042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Data Cleaning: Structure and Duplicates Removal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2055757"/>
            <a:ext cx="9902857" cy="3505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51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Removed the redundant "Unnamed" index column </a:t>
            </a:r>
          </a:p>
          <a:p>
            <a:pPr marL="453390" lvl="1" indent="-226695" algn="l">
              <a:lnSpc>
                <a:spcPts val="251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Checked missing values across all columns </a:t>
            </a:r>
          </a:p>
          <a:p>
            <a:pPr marL="453390" lvl="1" indent="-226695" algn="l">
              <a:lnSpc>
                <a:spcPts val="251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Split columns into:</a:t>
            </a:r>
          </a:p>
          <a:p>
            <a:pPr marL="906780" lvl="2" indent="-302260" algn="l">
              <a:lnSpc>
                <a:spcPts val="2517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Numerical: work_year, salary, salary_in_usd, remote_ratio</a:t>
            </a:r>
          </a:p>
          <a:p>
            <a:pPr marL="906780" lvl="2" indent="-302260" algn="l">
              <a:lnSpc>
                <a:spcPts val="2517"/>
              </a:lnSpc>
              <a:buFont typeface="Arial"/>
              <a:buChar char="⚬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Categorical: experience_level, employment_type, job_title, salary_currency, employee_residence, company_location, company_size</a:t>
            </a:r>
          </a:p>
          <a:p>
            <a:pPr marL="453390" lvl="1" indent="-226695" algn="l">
              <a:lnSpc>
                <a:spcPts val="251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Built a data quality summary table (column, data type, missing count, classification) to confirm the dataset was analysis-ready</a:t>
            </a:r>
          </a:p>
          <a:p>
            <a:pPr marL="453390" lvl="1" indent="-226695" algn="l">
              <a:lnSpc>
                <a:spcPts val="251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Checked for duplicate rows — No exact duplicate records were identified.</a:t>
            </a:r>
          </a:p>
          <a:p>
            <a:pPr marL="453390" lvl="1" indent="-226695" algn="l">
              <a:lnSpc>
                <a:spcPts val="2519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Standardized all categorical columns by stripping extra whitespace, for consistency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902857" cy="1623774"/>
            <a:chOff x="0" y="0"/>
            <a:chExt cx="13203809" cy="2165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2164969"/>
            </a:xfrm>
            <a:custGeom>
              <a:avLst/>
              <a:gdLst/>
              <a:ahLst/>
              <a:cxnLst/>
              <a:rect l="l" t="t" r="r" b="b"/>
              <a:pathLst>
                <a:path w="13203810" h="2164969">
                  <a:moveTo>
                    <a:pt x="0" y="0"/>
                  </a:moveTo>
                  <a:lnTo>
                    <a:pt x="13203810" y="0"/>
                  </a:lnTo>
                  <a:lnTo>
                    <a:pt x="13203810" y="2164969"/>
                  </a:lnTo>
                  <a:lnTo>
                    <a:pt x="0" y="2164969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0" y="1841357"/>
            <a:ext cx="9902857" cy="1695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3"/>
              </a:lnSpc>
            </a:pPr>
            <a:endParaRPr/>
          </a:p>
          <a:p>
            <a:pPr marL="472389" lvl="1" indent="-236194" algn="l">
              <a:lnSpc>
                <a:spcPts val="2623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Outliers were visually inspected using boxplots and were retained because they were not confirmed as data-entry errors.</a:t>
            </a:r>
          </a:p>
          <a:p>
            <a:pPr marL="472389" lvl="1" indent="-236194" algn="l">
              <a:lnSpc>
                <a:spcPts val="2625"/>
              </a:lnSpc>
              <a:buFont typeface="Arial"/>
              <a:buChar char="•"/>
            </a:pPr>
            <a:r>
              <a:rPr lang="en-US" sz="2187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Reset the index and exported the result as cleaned_dataset.csv, the file used throughout the EDA.</a:t>
            </a:r>
          </a:p>
        </p:txBody>
      </p:sp>
      <p:sp>
        <p:nvSpPr>
          <p:cNvPr id="5" name="Freeform 5"/>
          <p:cNvSpPr/>
          <p:nvPr/>
        </p:nvSpPr>
        <p:spPr>
          <a:xfrm>
            <a:off x="4254074" y="3811716"/>
            <a:ext cx="5340501" cy="2862677"/>
          </a:xfrm>
          <a:custGeom>
            <a:avLst/>
            <a:gdLst/>
            <a:ahLst/>
            <a:cxnLst/>
            <a:rect l="l" t="t" r="r" b="b"/>
            <a:pathLst>
              <a:path w="5340501" h="2862677">
                <a:moveTo>
                  <a:pt x="0" y="0"/>
                </a:moveTo>
                <a:lnTo>
                  <a:pt x="5340501" y="0"/>
                </a:lnTo>
                <a:lnTo>
                  <a:pt x="5340501" y="2862678"/>
                </a:lnTo>
                <a:lnTo>
                  <a:pt x="0" y="2862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1540" y="511845"/>
            <a:ext cx="849308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Data Cleaning: Outlier Detection &amp; Finalization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871" y="4173482"/>
            <a:ext cx="3908238" cy="990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Produced a full data dictionary to document the dataset for the team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29070" y="2212352"/>
            <a:ext cx="9057880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Exploratory Data Analysis &amp; Statistical Analysis</a:t>
            </a:r>
          </a:p>
        </p:txBody>
      </p:sp>
      <p:sp>
        <p:nvSpPr>
          <p:cNvPr id="4" name="AutoShape 4"/>
          <p:cNvSpPr/>
          <p:nvPr/>
        </p:nvSpPr>
        <p:spPr>
          <a:xfrm>
            <a:off x="990702" y="3564902"/>
            <a:ext cx="5921504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60149" y="1556070"/>
            <a:ext cx="7872946" cy="3225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3150"/>
              </a:lnSpc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Does salary increase with experience level?</a:t>
            </a:r>
          </a:p>
          <a:p>
            <a:pPr marL="453392" lvl="1" indent="-226696" algn="l">
              <a:lnSpc>
                <a:spcPts val="3150"/>
              </a:lnSpc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Which job titles have the highest typical salaries?</a:t>
            </a:r>
          </a:p>
          <a:p>
            <a:pPr marL="453392" lvl="1" indent="-226696" algn="l">
              <a:lnSpc>
                <a:spcPts val="3150"/>
              </a:lnSpc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Does company size relate to salary?</a:t>
            </a:r>
          </a:p>
          <a:p>
            <a:pPr marL="453392" lvl="1" indent="-226696" algn="l">
              <a:lnSpc>
                <a:spcPts val="3150"/>
              </a:lnSpc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Do salaries differ by remote-work arrangement?</a:t>
            </a:r>
          </a:p>
          <a:p>
            <a:pPr marL="453392" lvl="1" indent="-226696" algn="l">
              <a:lnSpc>
                <a:spcPts val="3150"/>
              </a:lnSpc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Which company locations have higher salaries?</a:t>
            </a:r>
          </a:p>
          <a:p>
            <a:pPr marL="453392" lvl="1" indent="-226696" algn="l">
              <a:lnSpc>
                <a:spcPts val="3150"/>
              </a:lnSpc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How do salaries change over the available years?</a:t>
            </a:r>
          </a:p>
          <a:p>
            <a:pPr marL="453392" lvl="1" indent="-226696" algn="l">
              <a:lnSpc>
                <a:spcPts val="3150"/>
              </a:lnSpc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Is there a salary difference between Data Scientists and Data Analysts?</a:t>
            </a:r>
          </a:p>
        </p:txBody>
      </p:sp>
      <p:sp>
        <p:nvSpPr>
          <p:cNvPr id="6" name="Freeform 6"/>
          <p:cNvSpPr/>
          <p:nvPr/>
        </p:nvSpPr>
        <p:spPr>
          <a:xfrm>
            <a:off x="8147652" y="5112743"/>
            <a:ext cx="1327227" cy="1442638"/>
          </a:xfrm>
          <a:custGeom>
            <a:avLst/>
            <a:gdLst/>
            <a:ahLst/>
            <a:cxnLst/>
            <a:rect l="l" t="t" r="r" b="b"/>
            <a:pathLst>
              <a:path w="1327227" h="1442638">
                <a:moveTo>
                  <a:pt x="0" y="0"/>
                </a:moveTo>
                <a:lnTo>
                  <a:pt x="1327227" y="0"/>
                </a:lnTo>
                <a:lnTo>
                  <a:pt x="1327227" y="1442638"/>
                </a:lnTo>
                <a:lnTo>
                  <a:pt x="0" y="1442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0149" y="289084"/>
            <a:ext cx="806098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Research Questions &amp; Hypotheses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3380" y="289084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Descriptive Statistics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1841820"/>
            <a:ext cx="8667747" cy="2825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Mean salary: ~$112,298</a:t>
            </a:r>
          </a:p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Median salary: ~$101,570</a:t>
            </a:r>
          </a:p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Mean &gt; Median → right-skewed distribution </a:t>
            </a:r>
          </a:p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Wide range between minimum and maximum shows substantial variation across roles</a:t>
            </a:r>
          </a:p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Standard deviation: $70,957.26, indicating substantial variation in salaries.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393380" y="1361655"/>
            <a:ext cx="4867314" cy="3165780"/>
          </a:xfrm>
          <a:custGeom>
            <a:avLst/>
            <a:gdLst/>
            <a:ahLst/>
            <a:cxnLst/>
            <a:rect l="l" t="t" r="r" b="b"/>
            <a:pathLst>
              <a:path w="4867314" h="3165780">
                <a:moveTo>
                  <a:pt x="0" y="0"/>
                </a:moveTo>
                <a:lnTo>
                  <a:pt x="4867314" y="0"/>
                </a:lnTo>
                <a:lnTo>
                  <a:pt x="4867314" y="3165779"/>
                </a:lnTo>
                <a:lnTo>
                  <a:pt x="0" y="3165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511556" y="1623858"/>
            <a:ext cx="4378604" cy="2450761"/>
          </a:xfrm>
          <a:custGeom>
            <a:avLst/>
            <a:gdLst/>
            <a:ahLst/>
            <a:cxnLst/>
            <a:rect l="l" t="t" r="r" b="b"/>
            <a:pathLst>
              <a:path w="4378604" h="2450761">
                <a:moveTo>
                  <a:pt x="0" y="0"/>
                </a:moveTo>
                <a:lnTo>
                  <a:pt x="4378604" y="0"/>
                </a:lnTo>
                <a:lnTo>
                  <a:pt x="4378604" y="2450761"/>
                </a:lnTo>
                <a:lnTo>
                  <a:pt x="0" y="24507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0" r="-1318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3380" y="289084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Descriptive Statistics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4761694"/>
            <a:ext cx="4574894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sz="19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Most salaries cluster in the mid-range, with a long right tail of high earners</a:t>
            </a:r>
          </a:p>
          <a:p>
            <a:pPr algn="just">
              <a:lnSpc>
                <a:spcPts val="2850"/>
              </a:lnSpc>
            </a:pPr>
            <a:endParaRPr lang="en-US" sz="1900" u="none" strike="noStrike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511556" y="4761694"/>
            <a:ext cx="4185694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2850"/>
              </a:lnSpc>
              <a:spcBef>
                <a:spcPct val="0"/>
              </a:spcBef>
            </a:pPr>
            <a:r>
              <a:rPr lang="en-US" sz="19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Boxplot confirms the right-skew and highlights unusually high-paying outlier roles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231841" y="1726945"/>
            <a:ext cx="5028853" cy="2686648"/>
          </a:xfrm>
          <a:custGeom>
            <a:avLst/>
            <a:gdLst/>
            <a:ahLst/>
            <a:cxnLst/>
            <a:rect l="l" t="t" r="r" b="b"/>
            <a:pathLst>
              <a:path w="5028853" h="2686648">
                <a:moveTo>
                  <a:pt x="0" y="0"/>
                </a:moveTo>
                <a:lnTo>
                  <a:pt x="5028853" y="0"/>
                </a:lnTo>
                <a:lnTo>
                  <a:pt x="5028853" y="2686648"/>
                </a:lnTo>
                <a:lnTo>
                  <a:pt x="0" y="2686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347959" y="1726945"/>
            <a:ext cx="4307477" cy="2686648"/>
          </a:xfrm>
          <a:custGeom>
            <a:avLst/>
            <a:gdLst/>
            <a:ahLst/>
            <a:cxnLst/>
            <a:rect l="l" t="t" r="r" b="b"/>
            <a:pathLst>
              <a:path w="4307477" h="2686648">
                <a:moveTo>
                  <a:pt x="0" y="0"/>
                </a:moveTo>
                <a:lnTo>
                  <a:pt x="4307477" y="0"/>
                </a:lnTo>
                <a:lnTo>
                  <a:pt x="4307477" y="2686648"/>
                </a:lnTo>
                <a:lnTo>
                  <a:pt x="0" y="2686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3380" y="289084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Descriptive Statistics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4761694"/>
            <a:ext cx="4574894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sz="1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Among the 10 m</a:t>
            </a:r>
            <a:r>
              <a:rPr lang="en-US" sz="19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ost represented roles, Data Architect has the highest median salary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11556" y="4761694"/>
            <a:ext cx="4185694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</a:t>
            </a:r>
            <a:r>
              <a:rPr lang="en-US" sz="19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lary levels increased from 2020 to 2022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685800" y="1559836"/>
            <a:ext cx="5586726" cy="3720509"/>
          </a:xfrm>
          <a:custGeom>
            <a:avLst/>
            <a:gdLst/>
            <a:ahLst/>
            <a:cxnLst/>
            <a:rect l="l" t="t" r="r" b="b"/>
            <a:pathLst>
              <a:path w="5586726" h="3720509">
                <a:moveTo>
                  <a:pt x="0" y="0"/>
                </a:moveTo>
                <a:lnTo>
                  <a:pt x="5586726" y="0"/>
                </a:lnTo>
                <a:lnTo>
                  <a:pt x="5586726" y="3720509"/>
                </a:lnTo>
                <a:lnTo>
                  <a:pt x="0" y="37205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3380" y="289084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Descriptive Statistics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48665" y="1823369"/>
            <a:ext cx="3738285" cy="307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0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The US has the highest median salary among included locations, followed by Canada</a:t>
            </a:r>
          </a:p>
          <a:p>
            <a:pPr marL="431802" lvl="1" indent="-215901" algn="l">
              <a:lnSpc>
                <a:spcPts val="3000"/>
              </a:lnSpc>
              <a:buFont typeface="Arial"/>
              <a:buChar char="•"/>
            </a:pPr>
            <a:r>
              <a:rPr lang="en-US" sz="20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Sample sizes differ a lot between countries, so results should be read with that in mind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3380" y="289084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Research Questions: Summary of Findings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9601" y="1964055"/>
            <a:ext cx="8667747" cy="2825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Experience level → Yes, salary rises from Entry to Executive</a:t>
            </a:r>
          </a:p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Job title → Data Architect has the highest median among top 10 roles</a:t>
            </a:r>
          </a:p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Company size → Yes, Small pays less than Medium/Large</a:t>
            </a:r>
          </a:p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Remote work → Yes, Fully Remote pays the most</a:t>
            </a:r>
          </a:p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Location → US highest among sufficiently represented countries</a:t>
            </a:r>
          </a:p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Time → Salaries rose 2020–2022, biggest jump 2021–2022</a:t>
            </a:r>
          </a:p>
          <a:p>
            <a:pPr marL="453392" lvl="1" indent="-226696" algn="just">
              <a:lnSpc>
                <a:spcPts val="3150"/>
              </a:lnSpc>
              <a:spcBef>
                <a:spcPct val="0"/>
              </a:spcBef>
              <a:buAutoNum type="arabicPeriod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DS vs. DA → Yes, Data Scientists earn more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3380" y="289084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Data Insights &amp; Patterns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9601" y="1564005"/>
            <a:ext cx="8667747" cy="362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3150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Experience is strongly associated with salary differences</a:t>
            </a:r>
          </a:p>
          <a:p>
            <a:pPr marL="453392" lvl="1" indent="-226696" algn="l">
              <a:lnSpc>
                <a:spcPts val="3150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Data Scientists earn more than Data Analysts in the sample</a:t>
            </a:r>
          </a:p>
          <a:p>
            <a:pPr marL="453392" lvl="1" indent="-226696" algn="l">
              <a:lnSpc>
                <a:spcPts val="3150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Fully remote roles have the highest salary levels among remote-work groups</a:t>
            </a:r>
          </a:p>
          <a:p>
            <a:pPr marL="453392" lvl="1" indent="-226696" algn="l">
              <a:lnSpc>
                <a:spcPts val="3150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Small companies show lower typical salaries than Medium or Large companies</a:t>
            </a:r>
          </a:p>
          <a:p>
            <a:pPr marL="453392" lvl="1" indent="-226696" algn="l">
              <a:lnSpc>
                <a:spcPts val="3150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Salary levels increased from 2020 to 2022</a:t>
            </a:r>
          </a:p>
          <a:p>
            <a:pPr marL="453392" lvl="1" indent="-226696" algn="l">
              <a:lnSpc>
                <a:spcPts val="3150"/>
              </a:lnSpc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Correlations with salary are weak overall as no single numeric variable dominates, salary is driven by a mix of categorical factors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3380" y="289084"/>
            <a:ext cx="862626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Data Insights &amp; Patterns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2595" y="1269089"/>
            <a:ext cx="8447054" cy="3258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Correlation Findings</a:t>
            </a: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The correlations are weak overall:</a:t>
            </a:r>
          </a:p>
          <a:p>
            <a:pPr marL="453390" lvl="1" indent="-226695" algn="l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Salary and Work Year: 0.170</a:t>
            </a:r>
          </a:p>
          <a:p>
            <a:pPr marL="453390" lvl="1" indent="-226695" algn="l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Salary and Remote Ratio: 0.132</a:t>
            </a:r>
          </a:p>
          <a:p>
            <a:pPr marL="453390" lvl="1" indent="-226695" algn="l">
              <a:lnSpc>
                <a:spcPts val="315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Work Year and Remote Ratio: 0.076</a:t>
            </a:r>
          </a:p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No strong linear relationship with salary was observed among the analyzed numerical variables. </a:t>
            </a:r>
          </a:p>
          <a:p>
            <a:pPr algn="l">
              <a:lnSpc>
                <a:spcPts val="3508"/>
              </a:lnSpc>
            </a:pPr>
            <a:endParaRPr lang="en-US" sz="210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724150"/>
            <a:ext cx="478345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Dashboard Design</a:t>
            </a:r>
          </a:p>
        </p:txBody>
      </p:sp>
      <p:sp>
        <p:nvSpPr>
          <p:cNvPr id="4" name="AutoShape 4"/>
          <p:cNvSpPr/>
          <p:nvPr/>
        </p:nvSpPr>
        <p:spPr>
          <a:xfrm>
            <a:off x="1146497" y="3371846"/>
            <a:ext cx="4582886" cy="38104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8111825" y="127755"/>
            <a:ext cx="1778335" cy="1778335"/>
          </a:xfrm>
          <a:custGeom>
            <a:avLst/>
            <a:gdLst/>
            <a:ahLst/>
            <a:cxnLst/>
            <a:rect l="l" t="t" r="r" b="b"/>
            <a:pathLst>
              <a:path w="1778335" h="1778335">
                <a:moveTo>
                  <a:pt x="0" y="0"/>
                </a:moveTo>
                <a:lnTo>
                  <a:pt x="1778335" y="0"/>
                </a:lnTo>
                <a:lnTo>
                  <a:pt x="1778335" y="1778334"/>
                </a:lnTo>
                <a:lnTo>
                  <a:pt x="0" y="1778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695" y="289084"/>
            <a:ext cx="441431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Dashboard Design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537" y="1092517"/>
            <a:ext cx="8822455" cy="287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Built on a star-schema data model: Fact table + Employment_Dim + Company_Dim.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5 core DAX measures: Average_Salary, Median_Salary, Highest_Salary, Total_Salary, and numb_job.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4 interactive report pages with slicers for Work Year, Experience Level, Company Size, and Remote Ratio.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  <a:endParaRPr lang="en-US" sz="2100" u="none" strike="noStrike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27504" y="4130316"/>
            <a:ext cx="8822455" cy="242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Page 1 – </a:t>
            </a: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Salary Overview</a:t>
            </a:r>
          </a:p>
          <a:p>
            <a:pPr marL="453390" lvl="1" indent="-226695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Average Salary by Experience Level</a:t>
            </a:r>
          </a:p>
          <a:p>
            <a:pPr marL="453390" lvl="1" indent="-226695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Average Salary by Work Year</a:t>
            </a:r>
          </a:p>
          <a:p>
            <a:pPr marL="453390" lvl="1" indent="-226695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Median Salary by Remote Ratio</a:t>
            </a:r>
          </a:p>
          <a:p>
            <a:pPr marL="453390" lvl="1" indent="-226695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Number of Jobs by Salary Range</a:t>
            </a:r>
          </a:p>
          <a:p>
            <a:pPr algn="l">
              <a:lnSpc>
                <a:spcPts val="3150"/>
              </a:lnSpc>
              <a:spcBef>
                <a:spcPct val="0"/>
              </a:spcBef>
            </a:pPr>
            <a:endParaRPr lang="en-US" sz="2100" u="none" strike="noStrike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8695" y="289084"/>
            <a:ext cx="441431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Dashboard Pages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7645" y="1433558"/>
            <a:ext cx="8822455" cy="442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Page 2 – Jobs Overview</a:t>
            </a:r>
          </a:p>
          <a:p>
            <a:pPr marL="453390" lvl="1" indent="-226695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Median Salary by Company Location</a:t>
            </a:r>
          </a:p>
          <a:p>
            <a:pPr marL="453390" lvl="1" indent="-226695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Median Salary by Job Title</a:t>
            </a:r>
          </a:p>
          <a:p>
            <a:pPr marL="453390" lvl="1" indent="-226695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Jobs by Company Size</a:t>
            </a:r>
          </a:p>
          <a:p>
            <a:pPr marL="453390" lvl="1" indent="-226695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Jobs by Experience Level</a:t>
            </a:r>
          </a:p>
          <a:p>
            <a:pPr algn="l">
              <a:lnSpc>
                <a:spcPts val="3150"/>
              </a:lnSpc>
              <a:spcBef>
                <a:spcPct val="0"/>
              </a:spcBef>
            </a:pPr>
            <a:endParaRPr lang="en-US" sz="2100" u="none" strike="noStrike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Page 3 – Experience Level</a:t>
            </a:r>
          </a:p>
          <a:p>
            <a:pPr marL="453390" lvl="1" indent="-226695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Average vs Median Salary by Experience Level</a:t>
            </a:r>
          </a:p>
          <a:p>
            <a:pPr marL="453390" lvl="1" indent="-226695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Correlation Analysis</a:t>
            </a:r>
          </a:p>
          <a:p>
            <a:pPr marL="453390" lvl="1" indent="-226695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Data Scientist vs Data Analyst Salary</a:t>
            </a:r>
          </a:p>
          <a:p>
            <a:pPr algn="l">
              <a:lnSpc>
                <a:spcPts val="3150"/>
              </a:lnSpc>
              <a:spcBef>
                <a:spcPct val="0"/>
              </a:spcBef>
            </a:pPr>
            <a:endParaRPr lang="en-US" sz="2100" u="none" strike="noStrike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724150"/>
            <a:ext cx="700860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Final Results</a:t>
            </a:r>
          </a:p>
        </p:txBody>
      </p:sp>
      <p:sp>
        <p:nvSpPr>
          <p:cNvPr id="4" name="AutoShape 4"/>
          <p:cNvSpPr/>
          <p:nvPr/>
        </p:nvSpPr>
        <p:spPr>
          <a:xfrm>
            <a:off x="946020" y="3390896"/>
            <a:ext cx="2944982" cy="28579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03263" y="823913"/>
            <a:ext cx="8587489" cy="596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Final Results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Salary levels vary across experience level, job role, company size, location, remote-work arrangement, and year.</a:t>
            </a:r>
          </a:p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2100" b="1" u="none" strike="noStrik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Recommendations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Benchmark compensation bands by experience level to reflect differences in salary across career stages.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Use role-specific salary benchmarks rather than applying a single pay scale across different job titles.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Consider company size when setting compensation budgets, as smaller companies show lower typical salaries in the analyzed sample.</a:t>
            </a:r>
          </a:p>
          <a:p>
            <a:pPr marL="431802" lvl="1" indent="-215901" algn="l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Consider remote-work arrangement as one factor in compensation strategy, while recognizing that the observed salary differences do not imply causation.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endParaRPr lang="en-US" sz="2000" u="none" strike="noStrike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8574752" y="5375839"/>
            <a:ext cx="1334618" cy="1334618"/>
          </a:xfrm>
          <a:custGeom>
            <a:avLst/>
            <a:gdLst/>
            <a:ahLst/>
            <a:cxnLst/>
            <a:rect l="l" t="t" r="r" b="b"/>
            <a:pathLst>
              <a:path w="1334618" h="1334618">
                <a:moveTo>
                  <a:pt x="0" y="0"/>
                </a:moveTo>
                <a:lnTo>
                  <a:pt x="1334617" y="0"/>
                </a:lnTo>
                <a:lnTo>
                  <a:pt x="1334617" y="1334617"/>
                </a:lnTo>
                <a:lnTo>
                  <a:pt x="0" y="1334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1781" y="376237"/>
            <a:ext cx="6294046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Conclusion &amp; Recommendations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724150"/>
            <a:ext cx="700860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Future Enhancements</a:t>
            </a:r>
          </a:p>
        </p:txBody>
      </p:sp>
      <p:sp>
        <p:nvSpPr>
          <p:cNvPr id="4" name="AutoShape 4"/>
          <p:cNvSpPr/>
          <p:nvPr/>
        </p:nvSpPr>
        <p:spPr>
          <a:xfrm>
            <a:off x="946020" y="3414710"/>
            <a:ext cx="5089592" cy="1429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49288" y="1276645"/>
            <a:ext cx="8409899" cy="484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Limitations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The d</a:t>
            </a: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ataset only covers up to 2022, so more recent data would provide a more current view of salary trends.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Some countries have very small sample sizes, which limits confidence in location-based salary comparisons.</a:t>
            </a:r>
          </a:p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Future Work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Develop predictive salary models to estimate salary ranges.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Include additional variables that may help explain salary differences.</a:t>
            </a:r>
          </a:p>
          <a:p>
            <a:pPr marL="453392" lvl="1" indent="-226696" algn="l">
              <a:lnSpc>
                <a:spcPts val="315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 strike="noStrik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Expand geographic coverage to improve the representativeness of location comparisons.</a:t>
            </a:r>
          </a:p>
          <a:p>
            <a:pPr marL="949962" lvl="2" indent="-316654" algn="just">
              <a:lnSpc>
                <a:spcPts val="3300"/>
              </a:lnSpc>
              <a:spcBef>
                <a:spcPct val="0"/>
              </a:spcBef>
              <a:buFont typeface="Arial"/>
              <a:buChar char="⚬"/>
            </a:pPr>
            <a:endParaRPr lang="en-US" sz="2100" u="none" strike="noStrike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5989330" y="3658109"/>
            <a:ext cx="2648055" cy="2105204"/>
          </a:xfrm>
          <a:custGeom>
            <a:avLst/>
            <a:gdLst/>
            <a:ahLst/>
            <a:cxnLst/>
            <a:rect l="l" t="t" r="r" b="b"/>
            <a:pathLst>
              <a:path w="2648055" h="2105204">
                <a:moveTo>
                  <a:pt x="0" y="0"/>
                </a:moveTo>
                <a:lnTo>
                  <a:pt x="2648055" y="0"/>
                </a:lnTo>
                <a:lnTo>
                  <a:pt x="2648055" y="2105204"/>
                </a:lnTo>
                <a:lnTo>
                  <a:pt x="0" y="2105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9288" y="309563"/>
            <a:ext cx="676407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Limitations &amp; Next Steps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2979" y="5583412"/>
            <a:ext cx="9309849" cy="77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ⓒ2020 SAMSUNG. All rights reserved.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Electronics Corporate Citizenship Office holds the copyright of book.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id="3" name="Freeform 3"/>
          <p:cNvSpPr/>
          <p:nvPr/>
        </p:nvSpPr>
        <p:spPr>
          <a:xfrm>
            <a:off x="8066551" y="403955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070" b="-2070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271256" y="2628881"/>
            <a:ext cx="3360306" cy="1102138"/>
            <a:chOff x="0" y="0"/>
            <a:chExt cx="4480408" cy="1469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80433" cy="1469517"/>
            </a:xfrm>
            <a:custGeom>
              <a:avLst/>
              <a:gdLst/>
              <a:ahLst/>
              <a:cxnLst/>
              <a:rect l="l" t="t" r="r" b="b"/>
              <a:pathLst>
                <a:path w="4480433" h="1469517">
                  <a:moveTo>
                    <a:pt x="0" y="0"/>
                  </a:moveTo>
                  <a:lnTo>
                    <a:pt x="4480433" y="0"/>
                  </a:lnTo>
                  <a:lnTo>
                    <a:pt x="4480433" y="1469517"/>
                  </a:lnTo>
                  <a:lnTo>
                    <a:pt x="0" y="146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1" b="-101"/>
              </a:stretch>
            </a:blipFill>
          </p:spPr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Members</dc:title>
  <cp:revision>3</cp:revision>
  <dcterms:created xsi:type="dcterms:W3CDTF">2006-08-16T00:00:00Z</dcterms:created>
  <dcterms:modified xsi:type="dcterms:W3CDTF">2026-08-16T01:24:51Z</dcterms:modified>
  <dc:identifier>DAHSMt2S9EY</dc:identifier>
</cp:coreProperties>
</file>